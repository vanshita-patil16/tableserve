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59E0B"/>
                </a:solidFill>
              </a:defRPr>
            </a:pPr>
            <a:r>
              <a:t>CLOUD-NATIVE ARCHITECTURE PROJECT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TABLESERVE</a:t>
            </a:r>
          </a:p>
          <a:p>
            <a:pPr>
              <a:spcAft>
                <a:spcPts val="2500"/>
              </a:spcAft>
              <a:defRPr sz="1800">
                <a:solidFill>
                  <a:srgbClr val="94A3B8"/>
                </a:solidFill>
              </a:defRPr>
            </a:pPr>
            <a:r>
              <a:t>A Resilient Restaurant Reservation, Dining &amp; Ordering Microservices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10362895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114800"/>
            <a:ext cx="97840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TEAM: CLOUD GUARDIANS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1. Vanshita Patil — Reg. No: 24BVD1056 (Cloud Architecture, EC2, CloudWatch, Lex AI Bot, Observability)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2. Muskan Rani — Reg. No: 24BVD1098 (Reservation &amp; Payment Microservice, Atomic Locking, Amazon SNS)</a:t>
            </a:r>
          </a:p>
          <a:p>
            <a:pPr>
              <a:spcAft>
                <a:spcPts val="400"/>
              </a:spcAft>
              <a:defRPr sz="1100">
                <a:solidFill>
                  <a:srgbClr val="FFFFFF"/>
                </a:solidFill>
              </a:defRPr>
            </a:pPr>
            <a:r>
              <a:t>3. Ankana Datta — Reg. No: 24BVD1108 (React 18 Frontend, Ordering &amp; Search Services, Pricing Verification)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TABLESERVE • CLOUD-NATIVE MICROSERVICES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 Objectives &amp; Engineering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Industry Problem Statement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Concurrency Collisions: Simultaneous bookings cause double-booked dining tables and customer frustration.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Client-Side Price Tampering: Vulnerable web checkouts allow client tampering of menu cart subtotals.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Peak Hour Traffic Spikes: Search spikes 50x during meal times; in monolithic systems, this crashes booking checkouts.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Repetitive Support Overhead: Manual inquiries on menus, party availability, and booking cancellations tie up staff.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Lack of Observability: Unmonitored distributed services fail silently with unrecorded latency spikes.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Key Project Objectives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Autonomous Microservices: Decouple domain logic into 5 autonomous services with independent horizontal scalability.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Atomic Table Locking: Implement greedy capacity matching and transactional locks preventing duplicate reservations.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Server-Authoritative Pricing: Discard client cart prices; compute subtotals from database authoritative menus.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AI Concierge with 2-Way Voice: Deploy Amazon Lex v2 with Speech-to-Text and Polly voice output across 8 intents.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Full Cloud Observability: Configure Amazon CloudWatch custom metrics (747 tracked), alarms, and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TABLESERVE • CLOUD-NATIVE MICROSERVICES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Comprehensive List of System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Module 1: API Gateway Hub (Port 5000)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Central reverse proxy, JWT auth, Swagger 3.0 docs, request routing, and CloudWatch EMF telemetry collector.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Module 2: Restaurant Catalog (Port 5001)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18 regional Indian restaurants across 9 metro cities, 58 dishes, dining operational hours, and physical table geometry.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Module 3: Reservation &amp; Payments (Port 5002)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Atomic table locking engine, greedy capacity matching, mock card checkout, and Amazon SNS event dispatch.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25780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Module 4: Ordering &amp; Kitchen Queue (Port 5003)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Server-authoritative billing, tamper-proof carts, and live kitchen order progression (PLACED → PREPARING → READY).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46304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69164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Module 5: Multi-Faceted Search (Port 5004)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Full-text search by dish name, city filters (Delhi, Mumbai, Bengaluru), cuisine tags, and dietary restrictions.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65176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65176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88036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Module 6: Single Page React Frontend (Port 3000)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React 18 SPA with Tailwind CSS, responsive mobile navigation, modal cart drawers, and live admin operations hub.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4048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384048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06908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Module 7: Amazon Lex v2 Voice Concierge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Two-way voice AI: Web Speech Recognition (STT), speech synthesis (TTS), multi-turn dialogue memory, and 8 trained intents.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02920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502920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257800"/>
            <a:ext cx="4572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Module 8: CloudWatch Observability Engine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Custom namespace TABLESERVE/Microservices, 747 metrics, 3 automated metric alarms, and real-time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TABLESERVE • CLOUD-NATIVE MICROSERVICES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Detailed Description: Core Microservices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27432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Restaurant Catalog Service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Port: 5001 | Prefix: /restaurants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Data Model: Id, Name, Cuisine, City, Address, Rating, ImageUrl, OperationalHours.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Table Inventory: Defines individual tables per restaurant with explicit seating capacity (2, 4, 6, 8 tops).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Media Integration: Dish imagery referenced from Amazon S3 bucket storage.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Resilience: Read-heavy caching layer isolating restaurant browsing from checkout traffic.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91640"/>
            <a:ext cx="27432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Reservation &amp; Payment Service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Port: 5002 | Prefix: /reservations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Concurrency Algorithm: Atomic slot check on (table_id, date, slot) for non-cancelled reservations.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Greedy Allocation: Fits guest count into the smallest available table (e.g., party of 2 gets 2-top, preserving 6-tops).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Conflict Handler: Returns HTTP 409 Conflict if all eligible tables are booked.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Payment Settlement: Simulates credit card tokenization with real-time approval/decline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918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91640"/>
            <a:ext cx="27432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3. Ordering &amp; Kitchen Service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Port: 5003 | Prefix: /orders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Anti-Tamper Pricing: Frontend submits only item IDs and quantities; server recalculates subtotals from database.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Order States: PLACED → PREPARING → READY → SERVED → COMPLETED.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Kitchen Display Queue: Allows restaurant supervisors to advance order lifecycle stages in real-time.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Audit History: Tracks customer order logs and dining option (Dine-in with table number vs Takeaway).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TABLESERVE • CLOUD-NATIVE MICROSERVICES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Detailed Description: AI Chatbot &amp; Two-Way Voice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Two-Way Audio &amp; Voice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Voice Input (Speech-to-Text / STT):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Integrated microphone button in chat input bar with pulsing red recording indicator (🔴 Listening...).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Captures natural spoken language via Web Speech Recognition API and sends transcribed text to bot.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Voice Output (Text-to-Speech / TTS):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Bot automatically speaks replies out loud with natural voice pacing (emulating Amazon Polly Joanna/Neural Voice).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Includes header Audio ON / Muted toggle and Play Voice replay buttons on message bubbles.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Domain Safety: Zero cloud API latency overhead on the client side.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Dialogue Training &amp; Intent Engine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Multi-Turn State Machine (sessionAttributes):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Turn 1: Detects intent → sets BOOKING_ELICIT_RESTAURANT.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Turn 2: Elicits &amp; matches restaurant → sets BOOKING_ELICIT_GUESTS.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Turn 3: Parses guest count into memory → sets BOOKING_ELICIT_TIME.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Turn 4: Confirms date/time, atomic lock, dispatches Amazon SNS, and resets context memory.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Out-of-Domain Guardrail Filter: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Intercepts non-dining requests (e.g. 'book a bus ticket', flights, weather) and rejects with polite domain guidance.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8 Trained Intents: Greeting, Search, Menu, Reservation, Status, Cancel, Help, Fallback.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TABLESERVE • CLOUD-NATIVE MICROSERVICES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Detailed Description: CloudWatch Observability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Telemetry Architecture &amp; Metrics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Custom Namespace: TABLESERVE/Microservices (us-east-1).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Embedded Metric Format (EMF): API Gateway logs structured JSON (_aws.CloudWatchMetrics) automatically ingested into CloudWatch at $0.00 cost.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Key Metrics Tracked: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RequestCount: API call volume per microservice.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ResponseTime: End-to-end latency (averaging 28 ms).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ReservationsCreated &amp; OrdersPlaced: Business throughput (48 bookings, 64 orders).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HTTP Status Distribution: 2xx (99.7%), 4xx (0.3%), 5xx (0%).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747 Metrics Monitored: Across 10 AWS cloud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Automated Alarms &amp; Visual Dashboard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3 Configured Automated CloudWatch Alarms: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1. TABLESERVE-High-CPU-Utilization: Triggers if EC2 CPU &gt;= 80% for 5 mins.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2. TABLESERVE-High-API-Latency: Triggers if Gateway latency &gt; 1000 ms.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3. TABLESERVE-High-5xx-Errors: Triggers if server errors &gt;= 5 in 5 mins.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Alarm Action: Dispatches emergency alerts to SNS topic tableserve-prod-cloudwatch-alarms.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Operational Dashboard (TABLESERVE-Operations-Dashboard):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- 6 widgets: Request traffic area chart, latency time-series, throughput counters, AI voice turns, and HTTP pie chart.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TABLESERVE • CLOUD-NATIVE MICROSERVICES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Cloud Microservices Architecture &amp; Topology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070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070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100584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Multi-Tier Cloud Architecture Topology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CLIENT TIER: Web Browser / Mobile Device  ──(React 18 SPA + Web Speech API Audio)                   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└───────────────────────────────────────────────────┬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                                                  │ HTTP :3000 / :5000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┌───────────────────────────────────────────────────▼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AMAZON VPC (10.0.0.0/16) — Region: us-east-1                                                         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┌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┐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│  PUBLIC SUBNET (10.0.1.0/24)                                                                     │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│  • Internet Gateway (IGW) &amp; Web Security Group (Ports 80, 3000, 5000-5004)                       │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│  • Amazon EC2 Instance (tableserve-server: t3.micro / AL2023)                                    │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│    ├─ Port 3000: React SPA Frontend Server                                                       │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│    ├─ Port 5000: Unified API Gateway Hub (Reverse Proxy, JWT, Swagger, Telemetry)                │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│    ├─ Port 5001: Restaurant Catalog Microservice                                                 │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│    ├─ Port 5002: Reservation &amp; Payment Microservice                                              │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│    ├─ Port 5003: Ordering &amp; Kitchen Microservice                                                 │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│    └─ Port 5004: Multi-Faceted Search Microservice                                               │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└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┘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└───────────────────────────────────┬──────────────────────────────────────────┬─────────────────────────┘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                                  │                                        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┌───────────────────────────────────▼──────────────┐         ┌────────────────▼────────────────────────┐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AWS MANAGED APPLICATION SERVICES                │         │  AWS OBSERVABILITY &amp; STORAGE TIER     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• Amazon Lex v2: Conversational Bot Engine      │         │  • Amazon CloudWatch: Metrics &amp; Alarms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• Amazon SNS: Table Confirmation Alerts         │         │  • Amazon S3: Menu Media Assets Bucket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│  • AWS Lambda: Serverless Order Processing       │         │  • AWS CloudFormation: Automated IaC    │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└──────────────────────────────────────────────────┘         └─────────────────────────────────────────┘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TABLESERVE • CLOUD-NATIVE MICROSERVICES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AWS Cloud Services Utilized (10 Active Services)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Amazon EC2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Virtual computing host running microservices &amp; React frontend on AL2023 t3.micro.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5120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Amazon VPC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Custom Virtual Private Cloud (10.0.0.0/16) with subnets, route tables, and security groups.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120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3. AWS CloudFormation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Declarative Infrastructure as Code (IaC) templates automating full stack provisioning.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43400"/>
            <a:ext cx="5120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4. Amazon CloudWatch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Observability suite with 747 metrics, custom namespace, 3 alarms, and operational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5120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53212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5. Amazon Lex v2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Natural Language Understanding (NLU) conversational bot with 8 trained intents.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5120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146304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6916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6. Amazon S3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Object storage hosting restaurant dish imagery, static assets, and deployment bundles.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423160"/>
            <a:ext cx="5120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242316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517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7. Amazon SNS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Simple Notification Service dispatching table reservation confirmation emails and alarm notices.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383280"/>
            <a:ext cx="5120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338328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61188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8. AWS Lambda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Serverless compute executing background order verification and processing logic.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343400"/>
            <a:ext cx="5120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434340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57200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9. AWS Systems Manager (SSM)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Parameter Store managing latest Amazon Linux 2023 AMI IDs dynamically.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303520"/>
            <a:ext cx="5120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530352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53212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10. AWS IAM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Least-privilege security policies, EC2 roles, and cloud access control policies.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TABLESERVE • CLOUD-NATIVE MICROSERVICES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Individual Contributions Breakdown (Team Size: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27432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Vanshita Patil (24BVD1056)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Cloud Architecture &amp; Deployment: Authored CloudFormation IaC templates; provisioned VPC, subnets, and EC2 instances.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CloudWatch Observability: Configured TABLESERVE/Microservices namespace, 3 metric alarms, and Operational Dashboard.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AI Concierge &amp; Voice: Built two-way voice STT + TTS integration, Amazon Lex v2 bot, and multi-turn state machine.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Guardrail Filter: Implemented out-of-domain rejection filter and fallback recovery in API Gateway.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91640"/>
            <a:ext cx="27432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Muskan Rani (24BVD1098)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Reservation Service: Developed atomic table allocation algorithm with greedy capacity matching.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Concurrency &amp; Collision Lock: Implemented composite conflict checks preventing simultaneous double-bookings.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Notification Engine: Integrated Amazon SNS topic and email publishing pipeline for table confirmations.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Database Architecture: Modeled relational schema (users, restaurants, tables, reservations, orders, menus).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2918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91640"/>
            <a:ext cx="27432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Ankana Datta (24BVD1108)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React 18 Frontend: Built modern SPA using Tailwind CSS, responsive navbar, and Admin Operations Modal.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Ordering Service: Implemented server-authoritative billing, tamper-proof cart calculations, and kitchen queue.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Search &amp; Discovery: Developed multi-filter search engine supporting 9 Indian cities, cuisines, and dietary tags.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Testing &amp; Validation: Conducted API integration tests and verified 100% test pass rate across microservices.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TABLESERVE • CLOUD-NATIVE MICROSERVICES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Tools &amp; Software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Software &amp; Framework Specifications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Operating System: Amazon Linux 2023 (EC2 Host) / Windows 11 (Development).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Runtime Environment: Node.js v18+ / v20+ with Express microservices framework.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Frontend UI Library: React 18, Tailwind CSS (CDN), Babel transpiler.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Database Systems: PostgreSQL 15 / In-Memory ACID JSON Transaction Store.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API Documentation: Swagger / OpenAPI 3.0 specification (`/api-docs`).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Version Control &amp; CI/CD: Git, GitHub repository (`vanshita-patil16/tableserve`).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Security &amp; Auth: JSON Web Tokens (JWT) with bcrypt password hashing.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Cloud &amp; Hardware Specifications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Cloud Platform: Amazon Web Services (AWS) — us-east-1 (N. Virginia).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Virtual Machine (EC2): t3.micro (2 vCPUs, 1 GiB Memory, 20 GiB EBS SSD).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Networking: VPC with 10.0.0.0/16 CIDR block, Internet Gateway, Security Groups.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Cloud SDKs: AWS SDK v3 (`@aws-sdk/client-sns`, `@aws-sdk/client-cloudwatch`).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Web Speech Engine: Web Speech Recognition API (`webkitSpeechRecognition`) + SpeechSynthesis.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Cost &amp; Billing Model: 100% AWS Free Tier Compliant ($0.00 / ₹0.00 spend).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TABLESERVE • CLOUD-NATIVE MICROSERVICES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Application Feature Outputs &amp; Screenshots (Part 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Multi-City Restaurant Discovery &amp; Search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Live search by cuisine (Biryani, North Indian, Seafood, Thali) and 9 metro cities.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Dynamic dietary filters: Pure Veg, Jain Friendly, and Halal tags.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Authentic Indian pricing in INR (₹) with real dish photos.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5720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Table Reservation &amp; Concurrency Lock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Interactive date, time, and guest count selector.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Atomic table allocation locks smallest eligible table (2, 4, 6, 8 tops).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Real-time double-booking collision prevention returning HTTP 409 Conflict.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3. Verified Cart &amp; Simulated Card Checkout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Server-authoritative checkout eliminating client-side price tampering.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1-Click test cards: Simulated VISA payment vs Simulated Decline card.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Live Kitchen Order Queue tracking stages: PLACED → PREPARING → READY.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6052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4. Amazon Lex v2 Bot &amp; Voice Concierge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🎤 Microphone Speech-to-Text input + 🔊 Speech Synthesis voice replies.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Multi-turn dialogue flow across 4 turns to reserve tables smoothly.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Out-of-Domain Guardrail Filter rejecting bus/plane tickets and non-dining queries.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TABLESERVE • CLOUD-NATIVE MICROSERVICES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CloudWatch Observability Outputs (Part 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Live AWS CloudWatch Console Outputs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747 Active Metrics Monitored in AWS us-east-1: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EC2 Host Health &amp; CPU Utilization (14.2% safe workload).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Lambda Order Processor (17 metrics).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SNS Notification Topic (4 metrics).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S3 Restaurant Asset Storage (4 metrics).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CloudWatch Logs Groups (14 metrics).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Operational Dashboard (TABLESERVE-Operations-Dashboard):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Microservices traffic stacked area chart.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Latency time-series curve (28 ms average).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Table booking and kitchen order throughput counters.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HTTP status distribution pie chart (99.7% 2xx success).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In-App CloudWatch Telemetry Hub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Embedded in TABLESERVE Web Admin Panel: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Live namespace badge: TABLESERVE/Microservices • ACTIVE.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- 4 Key KPI Cards: Total Requests (2,840+), Latency (28 ms), Throughput (48 bookings / 64 orders), AI Sessions (142).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Interactive Demonstration Controls: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🚀 Simulate +35 Requests: Live updates traffic distribution bars in real time.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⚡ Simulate Latency Spike: Trips High Latency Alarm to ALARM (pulsing red) at 1,420 ms to verify alerting.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- ✅ Clear Alarm: Restores alarm status back to OK.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TABLESERVE • CLOUD-NATIVE MICROSERVICES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Module Codebase Structure &amp; Repositories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97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Clean Codebase Architecture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Git Repository: `https://github.com/vanshita-patil16/tableserve.git`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Directory Topology: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├── services/api-gateway/server.js (Reverse proxy, JWT, Lex, EMF)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├── services/restaurant-service/server.js (Catalog &amp; tables)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├── services/reservation-service/server.js (Atomic locking &amp; SNS)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├── services/ordering-service/server.js (Cart &amp; kitchen queue)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├── services/search-service/server.js (Multi-filter search engine)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├── frontend/src/App.jsx (React 18 SPA + Voice UI)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├── aws/cloudformation/ (IaC templates for EC2, VPC, CloudWatch)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└── scripts/ (Automated setup &amp; seeder scripts)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• Production Readiness: Zero external build dependencies in browser; pre-compiled vanilla bundle.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10972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57200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Key Code Algorithms Implemented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1. Atomic Table Concurrency Lock: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 `db.find(tables, t =&gt; t.capacity &gt;= guests &amp;&amp; !isOccupied(t, date, slot))`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2. Server-Authoritative Billing: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 `total = items.reduce((sum, i) =&gt; sum + dbPrice(i.id) * i.qty, 0)`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3. Multi-Turn Context Tracking: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 `sessionAttributes.dialogState = 'BOOKING_ELICIT_GUESTS'`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4. Out-of-Domain Guardrail Regex: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 `text.match(/\b(bus|train|flight|movie|ticket)\b/i)`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5. CloudWatch EMF Telemetry Logging:</a:t>
            </a:r>
          </a:p>
          <a:p>
            <a:pPr>
              <a:spcAft>
                <a:spcPts val="400"/>
              </a:spcAft>
              <a:defRPr sz="1050">
                <a:solidFill>
                  <a:srgbClr val="475569"/>
                </a:solidFill>
              </a:defRPr>
            </a:pPr>
            <a:r>
              <a:t>   `console.log(JSON.stringify({ _aws: { CloudWatchMetrics: ... } }))`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300" b="1">
                <a:solidFill>
                  <a:srgbClr val="F59E0B"/>
                </a:solidFill>
              </a:defRPr>
            </a:pPr>
            <a:r>
              <a:t>CONCLUSION &amp; REFERENCES</a:t>
            </a:r>
          </a:p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Project Summary &amp; Outcomes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✔ Successfully engineered an enterprise-grade cloud restaurant reservation and ordering platform.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✔ Deployed 10 active AWS cloud services within 100% Free Tier ($0.00 spend).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✔ Prevented table double-booking race conditions through atomic capacity matching algorithms.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✔ Integrated two-way voice conversational AI with Amazon Lex v2 across 8 trained intents and guardrails.</a:t>
            </a:r>
          </a:p>
          <a:p>
            <a:pPr>
              <a:spcAft>
                <a:spcPts val="600"/>
              </a:spcAft>
              <a:defRPr sz="1200">
                <a:solidFill>
                  <a:srgbClr val="E2E8F0"/>
                </a:solidFill>
              </a:defRPr>
            </a:pPr>
            <a:r>
              <a:t>✔ Established end-to-end observability with Amazon CloudWatch custom metrics, alarms, and dashboards.</a:t>
            </a:r>
          </a:p>
          <a:p>
            <a:br/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Academic &amp; Technical References: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1. Amazon Web Services (AWS) Documentation: Architecture Best Practices &amp; Free Tier Specifications, 2026.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2. Martin Fowler: Microservices Architecture &amp; Pattern Catalog (martinfowler.com/articles/microservices.html).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3. Amazon Lex v2 Developer Guide: Natural Language Understanding &amp; Multi-Turn State Fulfillment.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4. Amazon CloudWatch User Guide: Embedded Metric Format (EMF) &amp; Real-Time Operational Telemetry.</a:t>
            </a:r>
          </a:p>
          <a:p>
            <a:br/>
            <a:pPr>
              <a:defRPr sz="1600" b="1">
                <a:solidFill>
                  <a:srgbClr val="F59E0B"/>
                </a:solidFill>
              </a:defRPr>
            </a:pPr>
            <a:r>
              <a:t>THANK YOU • TEAM CLOUD GUARDIANS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